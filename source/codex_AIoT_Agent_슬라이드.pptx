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bc02c4059c456d" /><Relationship Type="http://schemas.openxmlformats.org/officeDocument/2006/relationships/extended-properties" Target="/docProps/app.xml" Id="R4314a47cbac343a1" /><Relationship Type="http://schemas.openxmlformats.org/officeDocument/2006/relationships/officeDocument" Target="/ppt/presentation.xml" Id="R31f754dd7bba47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ed4202a9314869"/>
  </p:sldMasterIdLst>
  <p:notesMasterIdLst>
    <p:notesMasterId xmlns:r="http://schemas.openxmlformats.org/officeDocument/2006/relationships" r:id="Ra0d8f9090cd9486f"/>
  </p:notesMasterIdLst>
  <p:sldIdLst>
    <p:sldId xmlns:r="http://schemas.openxmlformats.org/officeDocument/2006/relationships" id="256" r:id="R6f4a46f3f52c4ac2"/>
    <p:sldId xmlns:r="http://schemas.openxmlformats.org/officeDocument/2006/relationships" id="257" r:id="R3e8ddd7af29e49ab"/>
    <p:sldId xmlns:r="http://schemas.openxmlformats.org/officeDocument/2006/relationships" id="258" r:id="R44f303f50c864f45"/>
  </p:sldIdLst>
  <p:sldSz cx="24384000" cy="13716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ce495328a244c8" /><Relationship Type="http://schemas.openxmlformats.org/officeDocument/2006/relationships/slideMaster" Target="/ppt/slideMasters/slideMaster1.xml" Id="R93ed4202a9314869" /><Relationship Type="http://schemas.openxmlformats.org/officeDocument/2006/relationships/notesMaster" Target="/ppt/notesMasters/notesMaster1.xml" Id="Ra0d8f9090cd9486f" /><Relationship Type="http://schemas.openxmlformats.org/officeDocument/2006/relationships/presProps" Target="/ppt/presProps.xml" Id="R4214327d81374908" /><Relationship Type="http://schemas.openxmlformats.org/officeDocument/2006/relationships/viewProps" Target="/ppt/viewProps.xml" Id="R43c8fa23f2fe4bc9" /><Relationship Type="http://schemas.openxmlformats.org/officeDocument/2006/relationships/tableStyles" Target="/ppt/tableStyles.xml" Id="R9ba8e78df6e145f0" /><Relationship Type="http://schemas.openxmlformats.org/officeDocument/2006/relationships/slide" Target="/ppt/slides/slide1.xml" Id="R6f4a46f3f52c4ac2" /><Relationship Type="http://schemas.openxmlformats.org/officeDocument/2006/relationships/slide" Target="/ppt/slides/slide2.xml" Id="R3e8ddd7af29e49ab" /><Relationship Type="http://schemas.openxmlformats.org/officeDocument/2006/relationships/slide" Target="/ppt/slides/slide3.xml" Id="R44f303f50c864f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f720cfa4a049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8b26903fef4863" /><Relationship Type="http://schemas.openxmlformats.org/officeDocument/2006/relationships/notesMaster" Target="/ppt/notesMasters/notesMaster1.xml" Id="R5d956fa5474d44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cf51fca5a545d1" /><Relationship Type="http://schemas.openxmlformats.org/officeDocument/2006/relationships/notesMaster" Target="/ppt/notesMasters/notesMaster1.xml" Id="Rd29f05b1f83049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525dd1279b4039" /><Relationship Type="http://schemas.openxmlformats.org/officeDocument/2006/relationships/notesMaster" Target="/ppt/notesMasters/notesMaster1.xml" Id="R5eaed37be83340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9c4c151a0b45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0dc7e6a0194866" /><Relationship Type="http://schemas.openxmlformats.org/officeDocument/2006/relationships/slideLayout" Target="/ppt/slideLayouts/slideLayout1.xml" Id="R180af9021fea4c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0af9021fea4c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eb79665aa143dd" /><Relationship Type="http://schemas.openxmlformats.org/officeDocument/2006/relationships/notesSlide" Target="/ppt/notesSlides/notesSlide1.xml" Id="R250ccfffde7740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479cfa26234a29" /><Relationship Type="http://schemas.openxmlformats.org/officeDocument/2006/relationships/notesSlide" Target="/ppt/notesSlides/notesSlide2.xml" Id="R37c8fec78bee4f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844d4095ca4149" /><Relationship Type="http://schemas.openxmlformats.org/officeDocument/2006/relationships/notesSlide" Target="/ppt/notesSlides/notesSlide3.xml" Id="Rd428da4b8ad74f0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AB635A-AE28-4F3C-92B4-81C63223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0" cy="137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8"/>
          </a:solidFill>
          <a:ln xmlns:a="http://schemas.openxmlformats.org/drawingml/2006/main" w="0">
            <a:solidFill>
              <a:srgbClr val="F1EF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609353-9A9B-4883-BB2C-7E4E2371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7239000"/>
            <a:ext cx="809625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1D7"/>
          </a:solidFill>
          <a:ln xmlns:a="http://schemas.openxmlformats.org/drawingml/2006/main" w="0">
            <a:solidFill>
              <a:srgbClr val="E8E1D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B2F843-53FE-4F6A-87BD-96BEE6C9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572750"/>
            <a:ext cx="400050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D8C7"/>
          </a:solidFill>
          <a:ln xmlns:a="http://schemas.openxmlformats.org/drawingml/2006/main" w="0">
            <a:solidFill>
              <a:srgbClr val="E9D8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A33F42-F90F-4236-9D64-D2CC0432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"/>
            <a:ext cx="230886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AA45CB-67BC-48DF-B23F-76DFB320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8382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7A1F"/>
          </a:solidFill>
          <a:ln xmlns:a="http://schemas.openxmlformats.org/drawingml/2006/main" w="0">
            <a:solidFill>
              <a:srgbClr val="F57A1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8F080D-9459-4D20-8FCF-CD3099F2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933450"/>
            <a:ext cx="876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7A1F"/>
          </a:solidFill>
          <a:ln xmlns:a="http://schemas.openxmlformats.org/drawingml/2006/main" w="0">
            <a:solidFill>
              <a:srgbClr val="F57A1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AA25E4-0F0D-4A2B-9AC1-0B2BCBE7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781050"/>
            <a:ext cx="1314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9D1C7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D9D1C7"/>
                </a:solidFill>
                <a:latin typeface="Pretendard"/>
                <a:ea typeface="Pretendard"/>
                <a:cs typeface="Pretendard"/>
              </a:rPr>
              <a:t>SITUATION · TASK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B29828-04C6-476C-981F-6E65AC9E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066800"/>
            <a:ext cx="13906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분리된 4개 서비스를 하나의 AI 흐름으로 묶었다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F7DDF4-5D82-46F6-933F-CEE4BABF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76400"/>
            <a:ext cx="1295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DB7AE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BDB7AE"/>
                </a:solidFill>
                <a:latin typeface="Pretendard"/>
                <a:ea typeface="Pretendard"/>
                <a:cs typeface="Pretendard"/>
              </a:rPr>
              <a:t>AIoT 팀 프로젝트에서 API·LLM·음성·프론트가 병렬 개발된 상태에서, 센서 이벤트를 한 진입점으로 묶어야 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027A23-F71B-40B8-BDE4-8F632808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0" y="95250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Super Marimo Portfolio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61097E-06E8-48B3-B057-F7025AD8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12382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8"/>
          </a:solidFill>
          <a:ln xmlns:a="http://schemas.openxmlformats.org/drawingml/2006/main" w="0">
            <a:solidFill>
              <a:srgbClr val="F1EFE8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핵심은 기능을 더 넣는 일이 아니라,</a:t>
            </a:r>
          </a:p>
          <a:p xmlns:a="http://schemas.openxmlformats.org/drawingml/2006/main">
            <a:pPr algn="l">
              <a:defRPr sz="3450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이미 만들어진 서비스를 잇는 규격을 정리하는 일이었다.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003986-A71E-4982-B991-BBC04D24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91000"/>
            <a:ext cx="12096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8"/>
          </a:solidFill>
          <a:ln xmlns:a="http://schemas.openxmlformats.org/drawingml/2006/main" w="0">
            <a:solidFill>
              <a:srgbClr val="F1EFE8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7615A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67615A"/>
                </a:solidFill>
                <a:latin typeface="Pretendard"/>
                <a:ea typeface="Pretendard"/>
                <a:cs typeface="Pretendard"/>
              </a:rPr>
              <a:t>Situation: API · LLM · 음성 · 프론트가 병렬 개발돼 호출 순서와 책임 경계가 흩어져 있었다.</a:t>
            </a:r>
          </a:p>
          <a:p xmlns:a="http://schemas.openxmlformats.org/drawingml/2006/main">
            <a:pPr algn="l">
              <a:defRPr sz="1875" b="0">
                <a:solidFill>
                  <a:srgbClr val="67615A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67615A"/>
                </a:solidFill>
                <a:latin typeface="Pretendard"/>
                <a:ea typeface="Pretendard"/>
                <a:cs typeface="Pretendard"/>
              </a:rPr>
              <a:t>Task: voice-agent, Bridge, LLM 계약을 먼저 고정해 팀 결과물을 깨지 않고 묶어야 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81C16A-78BB-4FE2-9479-74AD8F6F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122396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AF8F2"/>
          </a:solidFill>
          <a:ln xmlns:a="http://schemas.openxmlformats.org/drawingml/2006/main" w="19050">
            <a:solidFill>
              <a:srgbClr val="D5CEC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C8004F-B7DF-43D4-BCF1-6B79529B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72100"/>
            <a:ext cx="1714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57A1F"/>
          </a:solidFill>
          <a:ln xmlns:a="http://schemas.openxmlformats.org/drawingml/2006/main" w="0">
            <a:solidFill>
              <a:srgbClr val="F57A1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378EC8-89B8-4A96-87E7-43126E76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81625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7A1F"/>
          </a:solidFill>
          <a:ln xmlns:a="http://schemas.openxmlformats.org/drawingml/2006/main" w="0">
            <a:solidFill>
              <a:srgbClr val="F57A1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문제 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19EF0C-F75D-45D9-9122-4DCB3308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886450"/>
            <a:ext cx="11668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2"/>
          </a:solidFill>
          <a:ln xmlns:a="http://schemas.openxmlformats.org/drawingml/2006/main" w="0">
            <a:solidFill>
              <a:srgbClr val="FAF8F2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분리된 서비스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B1C965-5A12-4704-BA73-BA5688A3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381750"/>
            <a:ext cx="116681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2"/>
          </a:solidFill>
          <a:ln xmlns:a="http://schemas.openxmlformats.org/drawingml/2006/main" w="0">
            <a:solidFill>
              <a:srgbClr val="FAF8F2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7615A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67615A"/>
                </a:solidFill>
                <a:latin typeface="Pretendard"/>
                <a:ea typeface="Pretendard"/>
                <a:cs typeface="Pretendard"/>
              </a:rPr>
              <a:t>API · LLM · 음성 · 프론트가 병렬 개발돼 호출 순서와 책임 경계가 흩어져 있었다.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B1316C-DE97-4223-B206-8A66594C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334250"/>
            <a:ext cx="122396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AF8F2"/>
          </a:solidFill>
          <a:ln xmlns:a="http://schemas.openxmlformats.org/drawingml/2006/main" w="19050">
            <a:solidFill>
              <a:srgbClr val="D5CEC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482BFD-AB68-4663-96E6-801E0BF4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562850"/>
            <a:ext cx="1714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57A1F"/>
          </a:solidFill>
          <a:ln xmlns:a="http://schemas.openxmlformats.org/drawingml/2006/main" w="0">
            <a:solidFill>
              <a:srgbClr val="F57A1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07A378-99E3-446D-A921-02AF672E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572375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7A1F"/>
          </a:solidFill>
          <a:ln xmlns:a="http://schemas.openxmlformats.org/drawingml/2006/main" w="0">
            <a:solidFill>
              <a:srgbClr val="F57A1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문제 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F56894-26F4-4620-94E9-C465FF4C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8077200"/>
            <a:ext cx="11668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2"/>
          </a:solidFill>
          <a:ln xmlns:a="http://schemas.openxmlformats.org/drawingml/2006/main" w="0">
            <a:solidFill>
              <a:srgbClr val="FAF8F2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센서–동작 단절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22F763-54B4-490E-AB71-7BBE3053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8572500"/>
            <a:ext cx="116681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2"/>
          </a:solidFill>
          <a:ln xmlns:a="http://schemas.openxmlformats.org/drawingml/2006/main" w="0">
            <a:solidFill>
              <a:srgbClr val="FAF8F2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7615A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67615A"/>
                </a:solidFill>
                <a:latin typeface="Pretendard"/>
                <a:ea typeface="Pretendard"/>
                <a:cs typeface="Pretendard"/>
              </a:rPr>
              <a:t>거리 감지는 저장 단계에 머물러 사용자 발화나 선제 인사로 이어지지 않았다.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7923A6-E4E4-46A8-A6A6-D3E8F741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525000"/>
            <a:ext cx="122396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AF8F2"/>
          </a:solidFill>
          <a:ln xmlns:a="http://schemas.openxmlformats.org/drawingml/2006/main" w="19050">
            <a:solidFill>
              <a:srgbClr val="D5CEC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3A88A9-D2A0-47D7-868A-C92EFDB8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753600"/>
            <a:ext cx="1714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57A1F"/>
          </a:solidFill>
          <a:ln xmlns:a="http://schemas.openxmlformats.org/drawingml/2006/main" w="0">
            <a:solidFill>
              <a:srgbClr val="F57A1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CA805F-9CD4-4F9A-A1F7-54F5BCBA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763125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7A1F"/>
          </a:solidFill>
          <a:ln xmlns:a="http://schemas.openxmlformats.org/drawingml/2006/main" w="0">
            <a:solidFill>
              <a:srgbClr val="F57A1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내 과제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17EF39-CBDA-4E57-AAE6-D0E7D672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0267950"/>
            <a:ext cx="11668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2"/>
          </a:solidFill>
          <a:ln xmlns:a="http://schemas.openxmlformats.org/drawingml/2006/main" w="0">
            <a:solidFill>
              <a:srgbClr val="FAF8F2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호출 규격 정리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87D3AF-058F-47E8-926C-D85D7959C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0763250"/>
            <a:ext cx="116681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2"/>
          </a:solidFill>
          <a:ln xmlns:a="http://schemas.openxmlformats.org/drawingml/2006/main" w="0">
            <a:solidFill>
              <a:srgbClr val="FAF8F2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7615A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67615A"/>
                </a:solidFill>
                <a:latin typeface="Pretendard"/>
                <a:ea typeface="Pretendard"/>
                <a:cs typeface="Pretendard"/>
              </a:rPr>
              <a:t>voice-agent, Bridge, LLM 계약을 먼저 고정해 팀 결과물을 깨지 않고 묶어야 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DB65F3-96DD-4739-B1B5-E9586B3B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2857500"/>
            <a:ext cx="9334500" cy="7677150"/>
          </a:xfrm>
          <a:prstGeom xmlns:a="http://schemas.openxmlformats.org/drawingml/2006/main" prst="roundRect">
            <a:avLst>
              <a:gd name="adj" fmla="val 993"/>
            </a:avLst>
          </a:prstGeom>
          <a:solidFill xmlns:a="http://schemas.openxmlformats.org/drawingml/2006/main">
            <a:srgbClr val="F7F4EE"/>
          </a:solidFill>
          <a:ln xmlns:a="http://schemas.openxmlformats.org/drawingml/2006/main" w="19050">
            <a:solidFill>
              <a:srgbClr val="D5CEC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410606-1CA9-4C68-8273-09467E22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310515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F7F4E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7615A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67615A"/>
                </a:solidFill>
                <a:latin typeface="Pretendard"/>
                <a:ea typeface="Pretendard"/>
                <a:cs typeface="Pretendard"/>
              </a:rPr>
              <a:t>연결 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761AB3-61B9-4DE2-81E7-C15DE705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0" y="3848100"/>
            <a:ext cx="8191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F7F4E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0" b="1">
                <a:solidFill>
                  <a:srgbClr val="DDD6CB"/>
                </a:solidFill>
                <a:latin typeface="Pretendard"/>
                <a:ea typeface="Pretendard"/>
                <a:cs typeface="Pretendard"/>
              </a:defRPr>
            </a:pPr>
            <a:r>
              <a:rPr sz="7500" b="1">
                <a:solidFill>
                  <a:srgbClr val="DDD6CB"/>
                </a:solidFill>
                <a:latin typeface="Pretendard"/>
                <a:ea typeface="Pretendard"/>
                <a:cs typeface="Pretendard"/>
              </a:rPr>
              <a:t>FLOW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04B96E-2874-418D-8D5A-51526332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5334000"/>
            <a:ext cx="2286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CEC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FAA366-DB8F-4D2B-9FAC-1DFB6CAD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5353050"/>
            <a:ext cx="228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API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3CB1FE-7E71-4C28-888C-F51C3F93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0" y="5334000"/>
            <a:ext cx="2286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CEC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362A8D-9A8C-476B-96BC-CBD8A483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0" y="5353050"/>
            <a:ext cx="228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LLM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454643-0298-4D29-B240-9DE91FF0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7067550"/>
            <a:ext cx="2286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CEC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15E7EF-20CB-4D04-9E7B-EC5313F4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7086600"/>
            <a:ext cx="228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음성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B3FFD7C-D1F3-4DB2-B8D8-D117C612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0" y="7067550"/>
            <a:ext cx="2286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CEC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1B05C49-1C5B-40C0-9C68-7BE9B09B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0" y="7086600"/>
            <a:ext cx="228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프론트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CA0FB52-DBB3-4E27-89D6-C2FFB08F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7962900"/>
            <a:ext cx="2476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26DF273-EA00-4C29-98DC-7EAC471E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7981950"/>
            <a:ext cx="247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voice-agent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CF9E45E-B25B-4A27-B8E4-E4291FA5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9048750"/>
            <a:ext cx="2476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CE1CE"/>
          </a:solidFill>
          <a:ln xmlns:a="http://schemas.openxmlformats.org/drawingml/2006/main" w="19050">
            <a:solidFill>
              <a:srgbClr val="F57A1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E88CABF-B048-4F1C-B2A9-DDDDDA35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9067800"/>
            <a:ext cx="2476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1CE"/>
          </a:solidFill>
          <a:ln xmlns:a="http://schemas.openxmlformats.org/drawingml/2006/main" w="0">
            <a:solidFill>
              <a:srgbClr val="FCE1C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Wemos 센서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7E9A634-4033-41C8-97BC-070BA036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9963150"/>
            <a:ext cx="2476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AF8F2"/>
          </a:solidFill>
          <a:ln xmlns:a="http://schemas.openxmlformats.org/drawingml/2006/main" w="19050">
            <a:solidFill>
              <a:srgbClr val="D5CEC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C1127A5-B4CF-4AD0-A11F-18CD41AB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998220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2"/>
          </a:solidFill>
          <a:ln xmlns:a="http://schemas.openxmlformats.org/drawingml/2006/main" w="0">
            <a:solidFill>
              <a:srgbClr val="FAF8F2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선제 인사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2A3974E-8139-4EC4-962C-3C4F25A0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5743575"/>
            <a:ext cx="95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7A1F"/>
          </a:solidFill>
          <a:ln xmlns:a="http://schemas.openxmlformats.org/drawingml/2006/main" w="0">
            <a:solidFill>
              <a:srgbClr val="F57A1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C3928CB-D9B5-4321-960F-B8346729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6534150"/>
            <a:ext cx="95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7A1F"/>
          </a:solidFill>
          <a:ln xmlns:a="http://schemas.openxmlformats.org/drawingml/2006/main" w="0">
            <a:solidFill>
              <a:srgbClr val="F57A1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EDD9D44-24FA-4760-81FF-479927E8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7353300"/>
            <a:ext cx="95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7A1F"/>
          </a:solidFill>
          <a:ln xmlns:a="http://schemas.openxmlformats.org/drawingml/2006/main" w="0">
            <a:solidFill>
              <a:srgbClr val="F57A1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1013D18-F762-4752-858C-DD6E0385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9150" y="5743575"/>
            <a:ext cx="7620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7A1F"/>
          </a:solidFill>
          <a:ln xmlns:a="http://schemas.openxmlformats.org/drawingml/2006/main" w="0">
            <a:solidFill>
              <a:srgbClr val="F57A1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139F0E4-7492-417E-8E6C-316C4542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16700" y="5743575"/>
            <a:ext cx="7620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7A1F"/>
          </a:solidFill>
          <a:ln xmlns:a="http://schemas.openxmlformats.org/drawingml/2006/main" w="0">
            <a:solidFill>
              <a:srgbClr val="F57A1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C30079C-70E0-4948-BDAB-B5995CDF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0" y="6838950"/>
            <a:ext cx="76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7A1F"/>
          </a:solidFill>
          <a:ln xmlns:a="http://schemas.openxmlformats.org/drawingml/2006/main" w="0">
            <a:solidFill>
              <a:srgbClr val="F57A1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EE87304-7F8F-4F8E-B2C1-A1FAD8C9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0" y="9201150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7A1F"/>
          </a:solidFill>
          <a:ln xmlns:a="http://schemas.openxmlformats.org/drawingml/2006/main" w="0">
            <a:solidFill>
              <a:srgbClr val="F57A1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D7BFE98-B80A-4E21-B9DB-13201958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68300"/>
            <a:ext cx="2308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7A1F"/>
          </a:solidFill>
          <a:ln xmlns:a="http://schemas.openxmlformats.org/drawingml/2006/main" w="0">
            <a:solidFill>
              <a:srgbClr val="F57A1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2FE5E02-2848-46F9-A818-3E57B66B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239750"/>
            <a:ext cx="1381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8"/>
          </a:solidFill>
          <a:ln xmlns:a="http://schemas.openxmlformats.org/drawingml/2006/main" w="0">
            <a:solidFill>
              <a:srgbClr val="F1EFE8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7615A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7615A"/>
                </a:solidFill>
                <a:latin typeface="Pretendard"/>
                <a:ea typeface="Pretendard"/>
                <a:cs typeface="Pretendard"/>
              </a:rPr>
              <a:t>Super Marimo interview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41E703C-B3B6-4F4D-B2D1-278DE625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0" y="1323975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8"/>
          </a:solidFill>
          <a:ln xmlns:a="http://schemas.openxmlformats.org/drawingml/2006/main" w="0">
            <a:solidFill>
              <a:srgbClr val="F1EFE8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7615A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7615A"/>
                </a:solidFill>
                <a:latin typeface="Pretendard"/>
                <a:ea typeface="Pretendard"/>
                <a:cs typeface="Pretendard"/>
              </a:rPr>
              <a:t>AIoT 팀 프로젝트 · 37 / 61</a:t>
            </a:r>
          </a:p>
        </p:txBody>
      </p:sp>
    </p:spTree>
    <p:extLst>
      <p:ext uri="{BB962C8B-B14F-4D97-AF65-F5344CB8AC3E}">
        <p14:creationId xmlns:p14="http://schemas.microsoft.com/office/powerpoint/2010/main" val="97483931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08B607-1222-4771-A02F-04EA6918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0" cy="137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8"/>
          </a:solidFill>
          <a:ln xmlns:a="http://schemas.openxmlformats.org/drawingml/2006/main" w="0">
            <a:solidFill>
              <a:srgbClr val="F1EF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4BDF16-E116-4D0C-A1BE-1D4924EA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7239000"/>
            <a:ext cx="78105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DDD0"/>
          </a:solidFill>
          <a:ln xmlns:a="http://schemas.openxmlformats.org/drawingml/2006/main" w="0">
            <a:solidFill>
              <a:srgbClr val="E9DDD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551E8A-4B45-4015-A53C-BA0BCCFB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"/>
            <a:ext cx="230886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31AAD6-04A9-43D9-A9B8-1B84A45A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8382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7A1F"/>
          </a:solidFill>
          <a:ln xmlns:a="http://schemas.openxmlformats.org/drawingml/2006/main" w="0">
            <a:solidFill>
              <a:srgbClr val="F57A1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3462FA-626F-4C82-B4AB-911D993E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933450"/>
            <a:ext cx="876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7A1F"/>
          </a:solidFill>
          <a:ln xmlns:a="http://schemas.openxmlformats.org/drawingml/2006/main" w="0">
            <a:solidFill>
              <a:srgbClr val="F57A1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E8087C-CF1F-4A98-AD99-A763119E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781050"/>
            <a:ext cx="1314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9D1C7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D9D1C7"/>
                </a:solidFill>
                <a:latin typeface="Pretendard"/>
                <a:ea typeface="Pretendard"/>
                <a:cs typeface="Pretendard"/>
              </a:rPr>
              <a:t>ACTION · 내가 직접 한 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C2110A-F08B-4F43-B1F0-0316E6FC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066800"/>
            <a:ext cx="13906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내가 맡은 핵심은 계약과 오케스트레이션이었다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2A0F1F-863B-49C1-82E4-BB13C2C0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76400"/>
            <a:ext cx="1295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DB7AE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BDB7AE"/>
                </a:solidFill>
                <a:latin typeface="Pretendard"/>
                <a:ea typeface="Pretendard"/>
                <a:cs typeface="Pretendard"/>
              </a:rPr>
              <a:t>voice-agent가 호출 순서를 조율하고, LLM 응답과 센서 이벤트를 하나의 흐름으로 묶었다.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885032-3C03-40B9-89FF-486EBB73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0" y="95250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Super Marimo Portfolio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11A2E-0041-4FF5-B3C9-2D9250A6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12477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8"/>
          </a:solidFill>
          <a:ln xmlns:a="http://schemas.openxmlformats.org/drawingml/2006/main" w="0">
            <a:solidFill>
              <a:srgbClr val="F1EFE8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직접 구현한 AI 로직을 팀 결과물과 통합하고 도구로 검증했다.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46D800-B999-4F65-B244-032887A2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12287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8"/>
          </a:solidFill>
          <a:ln xmlns:a="http://schemas.openxmlformats.org/drawingml/2006/main" w="0">
            <a:solidFill>
              <a:srgbClr val="F1EFE8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7615A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67615A"/>
                </a:solidFill>
                <a:latin typeface="Pretendard"/>
                <a:ea typeface="Pretendard"/>
                <a:cs typeface="Pretendard"/>
              </a:rPr>
              <a:t>입력 수신 → 상태 관리 → LLM 계약 → 허용 동작 → TTS 재생까지 한 경로로 정리해야 통합이 쉬워졌다.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0C4D1C-FD30-485F-B893-741653DD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12573000" cy="7810500"/>
          </a:xfrm>
          <a:prstGeom xmlns:a="http://schemas.openxmlformats.org/drawingml/2006/main" prst="roundRect">
            <a:avLst>
              <a:gd name="adj" fmla="val 976"/>
            </a:avLst>
          </a:prstGeom>
          <a:solidFill xmlns:a="http://schemas.openxmlformats.org/drawingml/2006/main">
            <a:srgbClr val="F8F6F1"/>
          </a:solidFill>
          <a:ln xmlns:a="http://schemas.openxmlformats.org/drawingml/2006/main" w="19050">
            <a:solidFill>
              <a:srgbClr val="D5CEC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2A3273-23FA-4B32-93C7-0E437C75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48250"/>
            <a:ext cx="2095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CE63F6-A871-424D-B144-FEE28486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57775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오케스트레이션 흐름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4B5ACE-7A57-42D3-BAD9-AA0D14FE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543550"/>
            <a:ext cx="1066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F8F6F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7A1F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F57A1F"/>
                </a:solidFill>
                <a:latin typeface="Pretendard"/>
                <a:ea typeface="Pretendard"/>
                <a:cs typeface="Pretendard"/>
              </a:rPr>
              <a:t>answer + action_proposal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4C442C-257F-4F80-B349-038DD965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38175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CEC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4F66D7-43AC-496F-BACE-64C412C2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400800"/>
            <a:ext cx="2095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RP2040</a:t>
            </a:r>
          </a:p>
          <a:p xmlns:a="http://schemas.openxmlformats.org/drawingml/2006/main">
            <a:pPr algn="ctr">
              <a:defRPr sz="1950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입력 수신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833799-7159-45EF-85EC-D292CFBB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6743700"/>
            <a:ext cx="476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7A1F"/>
          </a:solidFill>
          <a:ln xmlns:a="http://schemas.openxmlformats.org/drawingml/2006/main" w="0">
            <a:solidFill>
              <a:srgbClr val="F57A1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76A410-7339-4549-AE92-6B4D0D6E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381750"/>
            <a:ext cx="1714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CEC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FC5C9D-47C1-470A-A5BC-EA05DB1C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400800"/>
            <a:ext cx="171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VAD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7B682C-60C0-4993-A846-EBA69ABF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6743700"/>
            <a:ext cx="476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7A1F"/>
          </a:solidFill>
          <a:ln xmlns:a="http://schemas.openxmlformats.org/drawingml/2006/main" w="0">
            <a:solidFill>
              <a:srgbClr val="F57A1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F2BBC9-C373-479F-9A10-648644FB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191250"/>
            <a:ext cx="2762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8B66B9-80CE-4586-94F9-BF99BCF2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210300"/>
            <a:ext cx="2762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voice-agent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 관리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5D1B18-E5C0-4EC1-97F2-B981DE35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6743700"/>
            <a:ext cx="476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7A1F"/>
          </a:solidFill>
          <a:ln xmlns:a="http://schemas.openxmlformats.org/drawingml/2006/main" w="0">
            <a:solidFill>
              <a:srgbClr val="F57A1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F2E44F-2FD5-4D7A-96A7-007F3C68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6381750"/>
            <a:ext cx="2381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CEC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90226B-4EBE-41BD-BB65-FF457E6C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640080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LLM 응답</a:t>
            </a:r>
          </a:p>
          <a:p xmlns:a="http://schemas.openxmlformats.org/drawingml/2006/main">
            <a:pPr algn="ctr">
              <a:defRPr sz="1950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계약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3D8951-133C-4522-8A2C-31A236E5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6743700"/>
            <a:ext cx="476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7A1F"/>
          </a:solidFill>
          <a:ln xmlns:a="http://schemas.openxmlformats.org/drawingml/2006/main" w="0">
            <a:solidFill>
              <a:srgbClr val="F57A1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DAAF19-F158-4072-A682-B0B61DE5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6381750"/>
            <a:ext cx="819150" cy="87630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CE1CE"/>
          </a:solidFill>
          <a:ln xmlns:a="http://schemas.openxmlformats.org/drawingml/2006/main" w="19050">
            <a:solidFill>
              <a:srgbClr val="F57A1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F5084F-8D85-4C4F-9C79-E4ACA915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6400800"/>
            <a:ext cx="819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1CE"/>
          </a:solidFill>
          <a:ln xmlns:a="http://schemas.openxmlformats.org/drawingml/2006/main" w="0">
            <a:solidFill>
              <a:srgbClr val="FCE1C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TTS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DEFFEC-D3E0-4D51-A72F-9D92BEF6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8229600"/>
            <a:ext cx="2952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CE1CE"/>
          </a:solidFill>
          <a:ln xmlns:a="http://schemas.openxmlformats.org/drawingml/2006/main" w="19050">
            <a:solidFill>
              <a:srgbClr val="F57A1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A6B73F-C5AA-46A7-BD75-15F2B20C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8248650"/>
            <a:ext cx="2952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1CE"/>
          </a:solidFill>
          <a:ln xmlns:a="http://schemas.openxmlformats.org/drawingml/2006/main" w="0">
            <a:solidFill>
              <a:srgbClr val="FCE1C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Wemos 거리 감지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265AED-C586-475C-BCE9-BC34F47B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5438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7A1F"/>
          </a:solidFill>
          <a:ln xmlns:a="http://schemas.openxmlformats.org/drawingml/2006/main" w="0">
            <a:solidFill>
              <a:srgbClr val="F57A1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1918F2-DEF8-48DA-AC81-8A343E56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9334500"/>
            <a:ext cx="2952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AF8F2"/>
          </a:solidFill>
          <a:ln xmlns:a="http://schemas.openxmlformats.org/drawingml/2006/main" w="19050">
            <a:solidFill>
              <a:srgbClr val="D5CEC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3B30A1-9BBE-4CDD-A193-38DE574E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9353550"/>
            <a:ext cx="2952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2"/>
          </a:solidFill>
          <a:ln xmlns:a="http://schemas.openxmlformats.org/drawingml/2006/main" w="0">
            <a:solidFill>
              <a:srgbClr val="FAF8F2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선제 인사</a:t>
            </a:r>
          </a:p>
          <a:p xmlns:a="http://schemas.openxmlformats.org/drawingml/2006/main">
            <a:pPr algn="ctr">
              <a:defRPr sz="1950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이벤트 트리거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F6F5CE-FE70-4D83-8042-DEB0F542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91059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7A1F"/>
          </a:solidFill>
          <a:ln xmlns:a="http://schemas.openxmlformats.org/drawingml/2006/main" w="0">
            <a:solidFill>
              <a:srgbClr val="F57A1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3F1BB1-36F8-4FA5-85A2-9E788394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0572750"/>
            <a:ext cx="11144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F8F6F1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7615A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67615A"/>
                </a:solidFill>
                <a:latin typeface="Pretendard"/>
                <a:ea typeface="Pretendard"/>
                <a:cs typeface="Pretendard"/>
              </a:rPr>
              <a:t>팀이 만든 개별 서비스를 침범하지 않고 연결하기 위해, 호출 규격과 허용 설정을 먼저 고정했다.</a:t>
            </a:r>
          </a:p>
          <a:p xmlns:a="http://schemas.openxmlformats.org/drawingml/2006/main">
            <a:pPr algn="l">
              <a:defRPr sz="1800" b="0">
                <a:solidFill>
                  <a:srgbClr val="67615A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67615A"/>
                </a:solidFill>
                <a:latin typeface="Pretendard"/>
                <a:ea typeface="Pretendard"/>
                <a:cs typeface="Pretendard"/>
              </a:rPr>
              <a:t>그 다음에야 음성 구간 감지, 재생 제어, 거리 트리거를 하나의 흐름으로 엮을 수 있었다.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2FF938-9973-4098-A9F2-4463DFAF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4762500"/>
            <a:ext cx="9239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AF8F2"/>
          </a:solidFill>
          <a:ln xmlns:a="http://schemas.openxmlformats.org/drawingml/2006/main" w="19050">
            <a:solidFill>
              <a:srgbClr val="D5CEC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54B5CD5-5C43-4EED-A3B7-4EE3B968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4200" y="4991100"/>
            <a:ext cx="1714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57A1F"/>
          </a:solidFill>
          <a:ln xmlns:a="http://schemas.openxmlformats.org/drawingml/2006/main" w="0">
            <a:solidFill>
              <a:srgbClr val="F57A1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D28427-C408-471A-9E17-797D594A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4200" y="5000625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7A1F"/>
          </a:solidFill>
          <a:ln xmlns:a="http://schemas.openxmlformats.org/drawingml/2006/main" w="0">
            <a:solidFill>
              <a:srgbClr val="F57A1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직접 구현 01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99BE3FE-9F36-4D31-80C8-79FD4F7F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5505450"/>
            <a:ext cx="8667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2"/>
          </a:solidFill>
          <a:ln xmlns:a="http://schemas.openxmlformats.org/drawingml/2006/main" w="0">
            <a:solidFill>
              <a:srgbClr val="FAF8F2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voice-agent 조율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B716EEF-CC33-47DD-BE26-74DE62E6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6000750"/>
            <a:ext cx="8667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2"/>
          </a:solidFill>
          <a:ln xmlns:a="http://schemas.openxmlformats.org/drawingml/2006/main" w="0">
            <a:solidFill>
              <a:srgbClr val="FAF8F2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7615A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67615A"/>
                </a:solidFill>
                <a:latin typeface="Pretendard"/>
                <a:ea typeface="Pretendard"/>
                <a:cs typeface="Pretendard"/>
              </a:rPr>
              <a:t>RP2040 입력, 상태 전이, 재생 타이밍을 정리해</a:t>
            </a:r>
          </a:p>
          <a:p xmlns:a="http://schemas.openxmlformats.org/drawingml/2006/main">
            <a:pPr algn="l">
              <a:defRPr sz="1800" b="0">
                <a:solidFill>
                  <a:srgbClr val="67615A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67615A"/>
                </a:solidFill>
                <a:latin typeface="Pretendard"/>
                <a:ea typeface="Pretendard"/>
                <a:cs typeface="Pretendard"/>
              </a:rPr>
              <a:t>대화 흐름이 끊기지 않도록 했다.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42A1324-FFA9-4477-BE99-2FEDAB41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7524750"/>
            <a:ext cx="9239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AF8F2"/>
          </a:solidFill>
          <a:ln xmlns:a="http://schemas.openxmlformats.org/drawingml/2006/main" w="19050">
            <a:solidFill>
              <a:srgbClr val="D5CEC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C4519C5-AD8B-4E20-90B2-15D5B6EA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4200" y="7753350"/>
            <a:ext cx="1714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57A1F"/>
          </a:solidFill>
          <a:ln xmlns:a="http://schemas.openxmlformats.org/drawingml/2006/main" w="0">
            <a:solidFill>
              <a:srgbClr val="F57A1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6C72FF6-BB16-434D-94BA-44112017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4200" y="7762875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7A1F"/>
          </a:solidFill>
          <a:ln xmlns:a="http://schemas.openxmlformats.org/drawingml/2006/main" w="0">
            <a:solidFill>
              <a:srgbClr val="F57A1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직접 구현 02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1D8F536-7DD0-48E9-93B8-AF79B9C2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8267700"/>
            <a:ext cx="8667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2"/>
          </a:solidFill>
          <a:ln xmlns:a="http://schemas.openxmlformats.org/drawingml/2006/main" w="0">
            <a:solidFill>
              <a:srgbClr val="FAF8F2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LLM action contract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533CC89-BF9E-430D-A472-1BF32F66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8763000"/>
            <a:ext cx="8667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2"/>
          </a:solidFill>
          <a:ln xmlns:a="http://schemas.openxmlformats.org/drawingml/2006/main" w="0">
            <a:solidFill>
              <a:srgbClr val="FAF8F2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7615A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67615A"/>
                </a:solidFill>
                <a:latin typeface="Pretendard"/>
                <a:ea typeface="Pretendard"/>
                <a:cs typeface="Pretendard"/>
              </a:rPr>
              <a:t>응답을 answer + action_proposal로 분리하고</a:t>
            </a:r>
          </a:p>
          <a:p xmlns:a="http://schemas.openxmlformats.org/drawingml/2006/main">
            <a:pPr algn="l">
              <a:defRPr sz="1800" b="0">
                <a:solidFill>
                  <a:srgbClr val="67615A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67615A"/>
                </a:solidFill>
                <a:latin typeface="Pretendard"/>
                <a:ea typeface="Pretendard"/>
                <a:cs typeface="Pretendard"/>
              </a:rPr>
              <a:t>허용된 동작만 실행되도록 검증 계층을 붙였다.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9849644-3C48-4367-8FFD-3D5245EF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10287000"/>
            <a:ext cx="92392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AF8F2"/>
          </a:solidFill>
          <a:ln xmlns:a="http://schemas.openxmlformats.org/drawingml/2006/main" w="19050">
            <a:solidFill>
              <a:srgbClr val="D5CEC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6289BC7-2897-4524-BBB0-3A1D65154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4200" y="10515600"/>
            <a:ext cx="1714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57A1F"/>
          </a:solidFill>
          <a:ln xmlns:a="http://schemas.openxmlformats.org/drawingml/2006/main" w="0">
            <a:solidFill>
              <a:srgbClr val="F57A1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6A92A87-0725-4C3D-A3C1-BE7EB5FD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4200" y="10525125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7A1F"/>
          </a:solidFill>
          <a:ln xmlns:a="http://schemas.openxmlformats.org/drawingml/2006/main" w="0">
            <a:solidFill>
              <a:srgbClr val="F57A1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직접 구현 03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B5708CC-AC8B-4642-9364-03C29B97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11029950"/>
            <a:ext cx="8667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2"/>
          </a:solidFill>
          <a:ln xmlns:a="http://schemas.openxmlformats.org/drawingml/2006/main" w="0">
            <a:solidFill>
              <a:srgbClr val="FAF8F2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센서 브리지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45BA518-1E51-44EA-9C8D-68BFE359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11525250"/>
            <a:ext cx="8667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2"/>
          </a:solidFill>
          <a:ln xmlns:a="http://schemas.openxmlformats.org/drawingml/2006/main" w="0">
            <a:solidFill>
              <a:srgbClr val="FAF8F2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7615A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67615A"/>
                </a:solidFill>
                <a:latin typeface="Pretendard"/>
                <a:ea typeface="Pretendard"/>
                <a:cs typeface="Pretendard"/>
              </a:rPr>
              <a:t>Wemos 거리 감지를 선제 인사 이벤트로 연결해</a:t>
            </a:r>
          </a:p>
          <a:p xmlns:a="http://schemas.openxmlformats.org/drawingml/2006/main">
            <a:pPr algn="l">
              <a:defRPr sz="1800" b="0">
                <a:solidFill>
                  <a:srgbClr val="67615A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67615A"/>
                </a:solidFill>
                <a:latin typeface="Pretendard"/>
                <a:ea typeface="Pretendard"/>
                <a:cs typeface="Pretendard"/>
              </a:rPr>
              <a:t>음성 응답과 센서 반응을 한 흐름으로 묶었다.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3237D16-8199-4AC0-987C-8103064A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68300"/>
            <a:ext cx="2308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7A1F"/>
          </a:solidFill>
          <a:ln xmlns:a="http://schemas.openxmlformats.org/drawingml/2006/main" w="0">
            <a:solidFill>
              <a:srgbClr val="F57A1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B3FFED5-57C3-4D0F-BDF0-03378690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239750"/>
            <a:ext cx="1381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8"/>
          </a:solidFill>
          <a:ln xmlns:a="http://schemas.openxmlformats.org/drawingml/2006/main" w="0">
            <a:solidFill>
              <a:srgbClr val="F1EFE8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7615A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7615A"/>
                </a:solidFill>
                <a:latin typeface="Pretendard"/>
                <a:ea typeface="Pretendard"/>
                <a:cs typeface="Pretendard"/>
              </a:rPr>
              <a:t>Super Marimo interview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EC8E702-9B88-4C20-9581-1B418966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0" y="1323975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8"/>
          </a:solidFill>
          <a:ln xmlns:a="http://schemas.openxmlformats.org/drawingml/2006/main" w="0">
            <a:solidFill>
              <a:srgbClr val="F1EFE8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7615A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7615A"/>
                </a:solidFill>
                <a:latin typeface="Pretendard"/>
                <a:ea typeface="Pretendard"/>
                <a:cs typeface="Pretendard"/>
              </a:rPr>
              <a:t>AIoT 팀 프로젝트 · 37 / 61</a:t>
            </a:r>
          </a:p>
        </p:txBody>
      </p:sp>
    </p:spTree>
    <p:extLst>
      <p:ext uri="{BB962C8B-B14F-4D97-AF65-F5344CB8AC3E}">
        <p14:creationId xmlns:p14="http://schemas.microsoft.com/office/powerpoint/2010/main" val="26612198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1692BE-94ED-45F2-88FB-20FB4C85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0" cy="137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8"/>
          </a:solidFill>
          <a:ln xmlns:a="http://schemas.openxmlformats.org/drawingml/2006/main" w="0">
            <a:solidFill>
              <a:srgbClr val="F1EF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641A70-16BC-4DEA-88C3-CFFA50EC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7239000"/>
            <a:ext cx="81915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DDCF"/>
          </a:solidFill>
          <a:ln xmlns:a="http://schemas.openxmlformats.org/drawingml/2006/main" w="0">
            <a:solidFill>
              <a:srgbClr val="E5DD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0B76B6-B533-4776-BD1D-4DB2FE137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"/>
            <a:ext cx="230886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187536-3F96-401E-993C-74AE2554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8382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7A1F"/>
          </a:solidFill>
          <a:ln xmlns:a="http://schemas.openxmlformats.org/drawingml/2006/main" w="0">
            <a:solidFill>
              <a:srgbClr val="F57A1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18C219-C988-4857-8246-06C358F9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933450"/>
            <a:ext cx="876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7A1F"/>
          </a:solidFill>
          <a:ln xmlns:a="http://schemas.openxmlformats.org/drawingml/2006/main" w="0">
            <a:solidFill>
              <a:srgbClr val="F57A1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0A09FF-936F-4D17-B10E-A0433619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781050"/>
            <a:ext cx="1314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9D1C7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D9D1C7"/>
                </a:solidFill>
                <a:latin typeface="Pretendard"/>
                <a:ea typeface="Pretendard"/>
                <a:cs typeface="Pretendard"/>
              </a:rPr>
              <a:t>RESULT · 근거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A45273-0E9B-40CE-9F43-61BDC2D2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066800"/>
            <a:ext cx="13906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결과와 기여는 동작·테스트·이력으로 설명했다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D08D7F-E871-4F07-8386-03D22418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76400"/>
            <a:ext cx="1295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DB7AE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BDB7AE"/>
                </a:solidFill>
                <a:latin typeface="Pretendard"/>
                <a:ea typeface="Pretendard"/>
                <a:cs typeface="Pretendard"/>
              </a:rPr>
              <a:t>정량 수치가 부족한 부분은 과장하지 않고, 커밋·테스트·로그로 근거를 남겼다.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03423C-AFDC-4B6E-9118-85EE5BF4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0" y="95250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Super Marimo Portfolio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3DC895-9E21-4345-9E74-F24E1A33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14287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8"/>
          </a:solidFill>
          <a:ln xmlns:a="http://schemas.openxmlformats.org/drawingml/2006/main" w="0">
            <a:solidFill>
              <a:srgbClr val="F1EFE8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성과는 연결된 흐름의 변화로, 내 기여는 검증 가능한 근거로 말할 수 있게 정리했다.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820CCD-CA42-4033-AD92-3C79E205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1333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8"/>
          </a:solidFill>
          <a:ln xmlns:a="http://schemas.openxmlformats.org/drawingml/2006/main" w="0">
            <a:solidFill>
              <a:srgbClr val="F1EFE8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7615A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67615A"/>
                </a:solidFill>
                <a:latin typeface="Pretendard"/>
                <a:ea typeface="Pretendard"/>
                <a:cs typeface="Pretendard"/>
              </a:rPr>
              <a:t>0 → 3 입력 경로, 0 → 3 LLM 제어 설정, 그리고 37 / 61 커밋이라는 세 가지 축으로만 말하면 과장이 줄어든다.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5B47D2-EC7A-4F18-8062-6AAD53E6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7334250" cy="5905500"/>
          </a:xfrm>
          <a:prstGeom xmlns:a="http://schemas.openxmlformats.org/drawingml/2006/main" prst="roundRect">
            <a:avLst>
              <a:gd name="adj" fmla="val 1290"/>
            </a:avLst>
          </a:prstGeom>
          <a:solidFill xmlns:a="http://schemas.openxmlformats.org/drawingml/2006/main">
            <a:srgbClr val="FAF8F2"/>
          </a:solidFill>
          <a:ln xmlns:a="http://schemas.openxmlformats.org/drawingml/2006/main" w="19050">
            <a:solidFill>
              <a:srgbClr val="D5CEC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19CD4A-BFA3-4CEE-8F04-8EE7C3E6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81600"/>
            <a:ext cx="16192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57A1F"/>
          </a:solidFill>
          <a:ln xmlns:a="http://schemas.openxmlformats.org/drawingml/2006/main" w="0">
            <a:solidFill>
              <a:srgbClr val="F57A1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7EC409-66A6-4FBC-A8A3-76972CEA2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91125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7A1F"/>
          </a:solidFill>
          <a:ln xmlns:a="http://schemas.openxmlformats.org/drawingml/2006/main" w="0">
            <a:solidFill>
              <a:srgbClr val="F57A1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OUTCOME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F65C6D-A9F7-4E06-84B2-D2D5874B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29300"/>
            <a:ext cx="676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2"/>
          </a:solidFill>
          <a:ln xmlns:a="http://schemas.openxmlformats.org/drawingml/2006/main" w="0">
            <a:solidFill>
              <a:srgbClr val="FAF8F2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4950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0 →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92F338-8C4A-4138-B371-D5049373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086600"/>
            <a:ext cx="67627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2"/>
          </a:solidFill>
          <a:ln xmlns:a="http://schemas.openxmlformats.org/drawingml/2006/main" w="0">
            <a:solidFill>
              <a:srgbClr val="FAF8F2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7615A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67615A"/>
                </a:solidFill>
                <a:latin typeface="Pretendard"/>
                <a:ea typeface="Pretendard"/>
                <a:cs typeface="Pretendard"/>
              </a:rPr>
              <a:t>음성 입력 경로를 실제 응답 경로로 연결했다.</a:t>
            </a:r>
          </a:p>
          <a:p xmlns:a="http://schemas.openxmlformats.org/drawingml/2006/main">
            <a:pPr algn="l">
              <a:defRPr sz="1800" b="0">
                <a:solidFill>
                  <a:srgbClr val="67615A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67615A"/>
                </a:solidFill>
                <a:latin typeface="Pretendard"/>
                <a:ea typeface="Pretendard"/>
                <a:cs typeface="Pretendard"/>
              </a:rPr>
              <a:t>RP2040 음성 · Wemos 선제 반응 · 프론트 입력이 하나의 흐름이 됐다.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9594A1-739B-483C-A4D1-10BC2188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953000"/>
            <a:ext cx="7334250" cy="5905500"/>
          </a:xfrm>
          <a:prstGeom xmlns:a="http://schemas.openxmlformats.org/drawingml/2006/main" prst="roundRect">
            <a:avLst>
              <a:gd name="adj" fmla="val 1290"/>
            </a:avLst>
          </a:prstGeom>
          <a:solidFill xmlns:a="http://schemas.openxmlformats.org/drawingml/2006/main">
            <a:srgbClr val="FAF8F2"/>
          </a:solidFill>
          <a:ln xmlns:a="http://schemas.openxmlformats.org/drawingml/2006/main" w="19050">
            <a:solidFill>
              <a:srgbClr val="D5CEC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D83D0C-48A8-4282-B2BF-506CC73F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181600"/>
            <a:ext cx="16192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57A1F"/>
          </a:solidFill>
          <a:ln xmlns:a="http://schemas.openxmlformats.org/drawingml/2006/main" w="0">
            <a:solidFill>
              <a:srgbClr val="F57A1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974525-17C6-4B49-BECA-A258EB28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191125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7A1F"/>
          </a:solidFill>
          <a:ln xmlns:a="http://schemas.openxmlformats.org/drawingml/2006/main" w="0">
            <a:solidFill>
              <a:srgbClr val="F57A1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VALIDATION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E37D62-0C9B-48F9-BFE5-C3798A0A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829300"/>
            <a:ext cx="676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2"/>
          </a:solidFill>
          <a:ln xmlns:a="http://schemas.openxmlformats.org/drawingml/2006/main" w="0">
            <a:solidFill>
              <a:srgbClr val="FAF8F2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4950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2A2562-C963-4423-8CDF-D4E0BADE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7086600"/>
            <a:ext cx="67627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2"/>
          </a:solidFill>
          <a:ln xmlns:a="http://schemas.openxmlformats.org/drawingml/2006/main" w="0">
            <a:solidFill>
              <a:srgbClr val="FAF8F2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7615A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67615A"/>
                </a:solidFill>
                <a:latin typeface="Pretendard"/>
                <a:ea typeface="Pretendard"/>
                <a:cs typeface="Pretendard"/>
              </a:rPr>
              <a:t>pytest · Docker Compose · 서비스 로그로</a:t>
            </a:r>
          </a:p>
          <a:p xmlns:a="http://schemas.openxmlformats.org/drawingml/2006/main">
            <a:pPr algn="l">
              <a:defRPr sz="1800" b="0">
                <a:solidFill>
                  <a:srgbClr val="67615A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67615A"/>
                </a:solidFill>
                <a:latin typeface="Pretendard"/>
                <a:ea typeface="Pretendard"/>
                <a:cs typeface="Pretendard"/>
              </a:rPr>
              <a:t>API / Bridge / voice-agent / LLM 흐름을 점검했다.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67615A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67615A"/>
                </a:solidFill>
                <a:latin typeface="Pretendard"/>
                <a:ea typeface="Pretendard"/>
                <a:cs typeface="Pretendard"/>
              </a:rPr>
              <a:t>* LLM 테스트는 수집 단계 이슈로 일부 미완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EBCC84-0529-402B-AF0C-02578370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4953000"/>
            <a:ext cx="7334250" cy="5905500"/>
          </a:xfrm>
          <a:prstGeom xmlns:a="http://schemas.openxmlformats.org/drawingml/2006/main" prst="roundRect">
            <a:avLst>
              <a:gd name="adj" fmla="val 129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F15D3F-2CAE-43A0-9FC3-90C643DB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0" y="5181600"/>
            <a:ext cx="16192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57A1F"/>
          </a:solidFill>
          <a:ln xmlns:a="http://schemas.openxmlformats.org/drawingml/2006/main" w="0">
            <a:solidFill>
              <a:srgbClr val="F57A1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3693E1-99B5-4E85-BF93-E032EB13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0" y="5191125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7A1F"/>
          </a:solidFill>
          <a:ln xmlns:a="http://schemas.openxmlformats.org/drawingml/2006/main" w="0">
            <a:solidFill>
              <a:srgbClr val="F57A1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FF831A-10F6-4CFF-B930-775D9896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5829300"/>
            <a:ext cx="676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49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37 / 61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ED4A2C-3FF3-4230-AE9D-1E6A3F914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7086600"/>
            <a:ext cx="67627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9D2C8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D9D2C8"/>
                </a:solidFill>
                <a:latin typeface="Pretendard"/>
                <a:ea typeface="Pretendard"/>
                <a:cs typeface="Pretendard"/>
              </a:rPr>
              <a:t>기본 작성자 기준 커밋.</a:t>
            </a:r>
          </a:p>
          <a:p xmlns:a="http://schemas.openxmlformats.org/drawingml/2006/main">
            <a:pPr algn="l">
              <a:defRPr sz="1800" b="0">
                <a:solidFill>
                  <a:srgbClr val="D9D2C8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D9D2C8"/>
                </a:solidFill>
                <a:latin typeface="Pretendard"/>
                <a:ea typeface="Pretendard"/>
                <a:cs typeface="Pretendard"/>
              </a:rPr>
              <a:t>통합·계약·문구 정리까지 내가 담당했다.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2210A2-6BCE-4AA2-8EA4-7D49BE66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239500"/>
            <a:ext cx="22669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860138-2746-4197-B605-15257026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601450"/>
            <a:ext cx="1619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57A1F"/>
          </a:solidFill>
          <a:ln xmlns:a="http://schemas.openxmlformats.org/drawingml/2006/main" w="0">
            <a:solidFill>
              <a:srgbClr val="F57A1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7DCF1A-87BB-4FD7-92CA-E388692E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610975"/>
            <a:ext cx="1619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7A1F"/>
          </a:solidFill>
          <a:ln xmlns:a="http://schemas.openxmlformats.org/drawingml/2006/main" w="0">
            <a:solidFill>
              <a:srgbClr val="F57A1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면접 한 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A741A0-0DD4-494E-9628-DE7A5A6B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1487150"/>
            <a:ext cx="1952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API·LLM·음성·센서를 하나의 흐름으로 묶고, 내 기여는 계약·통합·검증으로 증명했다.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441588-C11A-4FC8-99A4-85FC3C64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68300"/>
            <a:ext cx="2308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7A1F"/>
          </a:solidFill>
          <a:ln xmlns:a="http://schemas.openxmlformats.org/drawingml/2006/main" w="0">
            <a:solidFill>
              <a:srgbClr val="F57A1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21A637-4F6D-4B0E-8E6B-5F43A8D7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239750"/>
            <a:ext cx="1381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8"/>
          </a:solidFill>
          <a:ln xmlns:a="http://schemas.openxmlformats.org/drawingml/2006/main" w="0">
            <a:solidFill>
              <a:srgbClr val="F1EFE8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7615A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7615A"/>
                </a:solidFill>
                <a:latin typeface="Pretendard"/>
                <a:ea typeface="Pretendard"/>
                <a:cs typeface="Pretendard"/>
              </a:rPr>
              <a:t>Super Marimo interview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04EA9D-0273-4531-AA80-1F74A284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0" y="1323975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8"/>
          </a:solidFill>
          <a:ln xmlns:a="http://schemas.openxmlformats.org/drawingml/2006/main" w="0">
            <a:solidFill>
              <a:srgbClr val="F1EFE8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7615A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7615A"/>
                </a:solidFill>
                <a:latin typeface="Pretendard"/>
                <a:ea typeface="Pretendard"/>
                <a:cs typeface="Pretendard"/>
              </a:rPr>
              <a:t>AIoT 팀 프로젝트 · 37 / 61</a:t>
            </a:r>
          </a:p>
        </p:txBody>
      </p:sp>
    </p:spTree>
    <p:extLst>
      <p:ext uri="{BB962C8B-B14F-4D97-AF65-F5344CB8AC3E}">
        <p14:creationId xmlns:p14="http://schemas.microsoft.com/office/powerpoint/2010/main" val="21361109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2026-06-09T07:01:50.9560000Z</dcterms:created>
  <dcterms:modified xsi:type="dcterms:W3CDTF">2026-06-09T07:01:50.9560000Z</dcterms:modified>
</coreProperties>
</file>